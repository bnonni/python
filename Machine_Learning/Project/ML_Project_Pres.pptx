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61" r:id="rId4"/>
    <p:sldId id="257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94"/>
  </p:normalViewPr>
  <p:slideViewPr>
    <p:cSldViewPr snapToGrid="0" snapToObjects="1">
      <p:cViewPr>
        <p:scale>
          <a:sx n="85" d="100"/>
          <a:sy n="85" d="100"/>
        </p:scale>
        <p:origin x="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8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43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7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6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532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521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88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08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132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565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5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E440FF-D211-0F44-B82D-440A268B1D90}" type="datetimeFigureOut">
              <a:rPr lang="en-US" smtClean="0"/>
              <a:t>12/3/2019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E109C8-78F1-F24A-943A-79A49565A8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84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CE3618-1D7A-4256-B2AF-9DB692996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824" y="6419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1A9185-A7D5-460B-98BC-0BF2EBD3E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  <a:noFill/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AFC1764-6516-4F77-BF30-B8ADB3C9F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7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FCAFF9F9-F806-47EC-BCAC-9921E719F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09D92491-36BD-4861-BA54-DD88E60898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8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23740E15-AB86-4E5C-A137-07E0DDC03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BE097852-1F54-4EF0-A1BE-561272FCD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5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C2DF1F9-21CC-430E-84C8-356C73C6F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4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7F11B45B-3EDE-4B6A-903B-0AE6E9DD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3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F77FDDC5-477E-420D-B98F-42ABA24772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3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A92C0474-B573-45C5-84C5-194CE1715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2FBC62F8-64D0-4025-99AE-A04E291D9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7632F945-80B5-4575-A538-29495BF8F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2000"/>
                </a:schemeClr>
              </a:solidFill>
              <a:prstDash val="dashDot"/>
              <a:miter lim="800000"/>
              <a:headEnd/>
              <a:tailEnd/>
            </a:ln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5562CC17-43D4-4E57-AE08-83952EE59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2000"/>
                </a:schemeClr>
              </a:solidFill>
              <a:prstDash val="dashDot"/>
              <a:miter lim="800000"/>
              <a:headEnd/>
              <a:tailEnd/>
            </a:ln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E1D78CFE-04CA-4101-AFCF-196940B2D1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41F2A149-A64E-4690-B049-18C156A8E2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2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D9313C72-D62D-4416-A6AE-7EB7D6B54A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1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77B03BEA-76E5-4ECB-B9BB-D89D27509E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1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6AF6BECE-416D-4C3A-AD6F-68B08F3CA7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B9197E2A-A098-480D-A2A6-3F3B889EDA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5A493EDB-6C9E-483F-86A6-0F473E590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</p:spPr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A2DD9A9-BD07-9345-82A6-B6BA9A2374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4716" y="1263404"/>
            <a:ext cx="8239252" cy="3115075"/>
          </a:xfrm>
        </p:spPr>
        <p:txBody>
          <a:bodyPr>
            <a:normAutofit/>
          </a:bodyPr>
          <a:lstStyle/>
          <a:p>
            <a:pPr algn="l"/>
            <a:r>
              <a:rPr lang="en-US" sz="7200">
                <a:solidFill>
                  <a:schemeClr val="tx1"/>
                </a:solidFill>
              </a:rPr>
              <a:t>Machine Learning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32BEAE-8E59-E341-AC9F-7694E56F7B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4716" y="4560432"/>
            <a:ext cx="8239253" cy="1228171"/>
          </a:xfrm>
        </p:spPr>
        <p:txBody>
          <a:bodyPr>
            <a:normAutofit/>
          </a:bodyPr>
          <a:lstStyle/>
          <a:p>
            <a:pPr algn="l"/>
            <a:r>
              <a:rPr lang="en-US" sz="2400">
                <a:solidFill>
                  <a:schemeClr val="tx1"/>
                </a:solidFill>
              </a:rPr>
              <a:t>Bryan W. Nonni &amp; Frankie Sanchez</a:t>
            </a:r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A4CD35EF-7348-4E64-8700-827E64EA4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435823" y="3320139"/>
            <a:ext cx="300774" cy="259288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7280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Multi-Class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168577"/>
            <a:ext cx="8227269" cy="4457075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/>
              <a:t>Process:</a:t>
            </a:r>
          </a:p>
          <a:p>
            <a:pPr lvl="1"/>
            <a:r>
              <a:rPr lang="en-US" sz="1800" dirty="0"/>
              <a:t>Clean/Preprocess Data Sets</a:t>
            </a:r>
          </a:p>
          <a:p>
            <a:pPr lvl="1"/>
            <a:r>
              <a:rPr lang="en-US" sz="1800" dirty="0"/>
              <a:t>Used KNN to </a:t>
            </a:r>
            <a:r>
              <a:rPr lang="en-US" sz="1800" dirty="0" err="1"/>
              <a:t>imputate</a:t>
            </a:r>
            <a:r>
              <a:rPr lang="en-US" sz="1800" dirty="0"/>
              <a:t> missing/bad data</a:t>
            </a:r>
          </a:p>
          <a:p>
            <a:pPr lvl="2"/>
            <a:r>
              <a:rPr lang="en-US" sz="1600" dirty="0"/>
              <a:t>Turned bad data into </a:t>
            </a:r>
            <a:r>
              <a:rPr lang="en-US" sz="1600" dirty="0" err="1"/>
              <a:t>NaN</a:t>
            </a:r>
            <a:r>
              <a:rPr lang="en-US" sz="1600" dirty="0"/>
              <a:t> values, then used fast KNN</a:t>
            </a:r>
          </a:p>
          <a:p>
            <a:pPr lvl="1"/>
            <a:r>
              <a:rPr lang="en-US" sz="1800" dirty="0"/>
              <a:t>Performed PCA for dimensionality reduction</a:t>
            </a:r>
          </a:p>
          <a:p>
            <a:pPr lvl="2"/>
            <a:r>
              <a:rPr lang="en-US" sz="1600" dirty="0"/>
              <a:t>E.g. Took training and testing set 1 from 3312 features to 20 most significant features</a:t>
            </a:r>
          </a:p>
          <a:p>
            <a:pPr lvl="2"/>
            <a:r>
              <a:rPr lang="en-US" sz="1600" dirty="0"/>
              <a:t>Removed columns that didn’t match both sets (down to 15 features)</a:t>
            </a:r>
          </a:p>
          <a:p>
            <a:pPr lvl="2"/>
            <a:r>
              <a:rPr lang="en-US" sz="1600" dirty="0"/>
              <a:t>Future:  Test for new components c:  20 &gt;= c &gt;= 100, and retrain models for best c values</a:t>
            </a:r>
          </a:p>
          <a:p>
            <a:pPr lvl="2"/>
            <a:r>
              <a:rPr lang="en-US" sz="1600" dirty="0"/>
              <a:t>Goal:  Reduce features to only most impactful on Y</a:t>
            </a:r>
          </a:p>
          <a:p>
            <a:pPr lvl="1"/>
            <a:r>
              <a:rPr lang="en-US" sz="1800" dirty="0"/>
              <a:t>Performed KNN (e.g. k = 5 for dataset 1) to predict missing class values</a:t>
            </a:r>
          </a:p>
          <a:p>
            <a:pPr lvl="1"/>
            <a:r>
              <a:rPr lang="en-US" sz="1800" dirty="0"/>
              <a:t>Trained multiple models using cleaned </a:t>
            </a:r>
            <a:r>
              <a:rPr lang="en-US" sz="1800" dirty="0" err="1"/>
              <a:t>x_test</a:t>
            </a:r>
            <a:r>
              <a:rPr lang="en-US" sz="1800" dirty="0"/>
              <a:t> and </a:t>
            </a:r>
            <a:r>
              <a:rPr lang="en-US" sz="1800" dirty="0" err="1"/>
              <a:t>y_test</a:t>
            </a:r>
            <a:endParaRPr lang="en-US" sz="1800" dirty="0"/>
          </a:p>
          <a:p>
            <a:pPr lvl="2"/>
            <a:r>
              <a:rPr lang="en-US" sz="1600" dirty="0"/>
              <a:t>SVM, KNN, Random Forest, Logistic Regression, etc.</a:t>
            </a:r>
          </a:p>
          <a:p>
            <a:pPr lvl="1"/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4AA5D2-7DBD-4A49-8D70-BE724A969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17" y="3734869"/>
            <a:ext cx="2909398" cy="8221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B938F3-71ED-460C-AC33-468152C64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4651" y="2358765"/>
            <a:ext cx="2909398" cy="11895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F0E9C-72F9-4DCE-B7B0-F08744CE5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7216" y="4761291"/>
            <a:ext cx="2896185" cy="1957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828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Multi-Class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376" y="2785636"/>
            <a:ext cx="8227269" cy="3733878"/>
          </a:xfrm>
        </p:spPr>
        <p:txBody>
          <a:bodyPr>
            <a:normAutofit/>
          </a:bodyPr>
          <a:lstStyle/>
          <a:p>
            <a:r>
              <a:rPr lang="en-US" sz="2800" dirty="0"/>
              <a:t>Partial results for data set 1:</a:t>
            </a:r>
          </a:p>
          <a:p>
            <a:pPr lvl="1"/>
            <a:r>
              <a:rPr lang="en-US" sz="2400" dirty="0"/>
              <a:t>Accuracy</a:t>
            </a:r>
          </a:p>
          <a:p>
            <a:pPr lvl="2"/>
            <a:r>
              <a:rPr lang="en-US" sz="2000" dirty="0"/>
              <a:t>Random Forest Classifier = 100%</a:t>
            </a:r>
          </a:p>
          <a:p>
            <a:pPr lvl="2"/>
            <a:r>
              <a:rPr lang="en-US" sz="2000" dirty="0"/>
              <a:t>Logistic Regression = 90.6%</a:t>
            </a:r>
          </a:p>
          <a:p>
            <a:pPr lvl="2"/>
            <a:r>
              <a:rPr lang="en-US" sz="2000" dirty="0"/>
              <a:t>SVM (SVC, kernel = linear) = 88.7%</a:t>
            </a:r>
          </a:p>
          <a:p>
            <a:pPr lvl="2"/>
            <a:r>
              <a:rPr lang="en-US" sz="2000" dirty="0"/>
              <a:t>KNN (k = 5) = 100%</a:t>
            </a:r>
          </a:p>
          <a:p>
            <a:pPr lvl="2"/>
            <a:endParaRPr lang="en-US" sz="20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57D5D-64E1-4FFD-A19E-499CB74D9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33" y="2572562"/>
            <a:ext cx="5156716" cy="3569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7705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Missing Value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 dirty="0"/>
              <a:t>Definition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015234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2290B-11E4-DA42-996A-D150A5C13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Multi-label Classification: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02209-EEC1-2D44-B02E-E68DDB6BD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 dirty="0"/>
              <a:t>Definition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721758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BAF07C-C39E-42EB-BB22-8D46691D9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3061" cy="686920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8E9CF54-0466-4261-9E62-0249E60E18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33E32106-E8B1-4F76-9EE6-58537738A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32C2C46-A045-44FB-8A74-5EBD650C27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6A76F79C-6683-4940-BCF7-4BCCCEE406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8">
              <a:extLst>
                <a:ext uri="{FF2B5EF4-FFF2-40B4-BE49-F238E27FC236}">
                  <a16:creationId xmlns:a16="http://schemas.microsoft.com/office/drawing/2014/main" id="{FF4675A3-6D07-4B1F-9BFC-AEBEA1AD06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765E127A-B6B7-4B1D-B7BD-6C8C969D29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3BCA9D9E-C72C-4751-BFA9-10B85CACE3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080C708C-69BF-441B-AB75-C98160ED06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3E79964E-F8F1-4763-8892-7BC3DAE306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FE09592A-FCC9-4AE5-BA0B-730C6F3BBE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96448994-820C-4BC1-ABF3-4579C6F99A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9BB0D192-565A-42B9-B292-CC032D71A6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6D1CA09C-5F40-4E92-A7E9-D1FCEE5128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1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379F5AA5-2E14-4880-A5A6-07AEF2AD8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8">
              <a:extLst>
                <a:ext uri="{FF2B5EF4-FFF2-40B4-BE49-F238E27FC236}">
                  <a16:creationId xmlns:a16="http://schemas.microsoft.com/office/drawing/2014/main" id="{EF14BD32-D239-4DA3-98B3-7752073657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19">
              <a:extLst>
                <a:ext uri="{FF2B5EF4-FFF2-40B4-BE49-F238E27FC236}">
                  <a16:creationId xmlns:a16="http://schemas.microsoft.com/office/drawing/2014/main" id="{CF07B250-E5E4-4624-9BD7-8D513A67B7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0">
              <a:extLst>
                <a:ext uri="{FF2B5EF4-FFF2-40B4-BE49-F238E27FC236}">
                  <a16:creationId xmlns:a16="http://schemas.microsoft.com/office/drawing/2014/main" id="{BCC5D120-7C8C-4290-865C-4EE6E4F245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C24688C6-CAE5-4EF2-B2BA-A138DA0A24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6BD31099-7C13-4901-A04F-632B1CD84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9" name="Freeform 23">
              <a:extLst>
                <a:ext uri="{FF2B5EF4-FFF2-40B4-BE49-F238E27FC236}">
                  <a16:creationId xmlns:a16="http://schemas.microsoft.com/office/drawing/2014/main" id="{679F5FF7-82B2-4033-8FBE-63170C9378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1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3D296CC-CA82-4C71-A176-6A9FECDB8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075000"/>
          </a:xfrm>
          <a:custGeom>
            <a:avLst/>
            <a:gdLst>
              <a:gd name="connsiteX0" fmla="*/ 0 w 12192000"/>
              <a:gd name="connsiteY0" fmla="*/ 0 h 2075000"/>
              <a:gd name="connsiteX1" fmla="*/ 12192000 w 12192000"/>
              <a:gd name="connsiteY1" fmla="*/ 0 h 2075000"/>
              <a:gd name="connsiteX2" fmla="*/ 12192000 w 12192000"/>
              <a:gd name="connsiteY2" fmla="*/ 558112 h 2075000"/>
              <a:gd name="connsiteX3" fmla="*/ 12192000 w 12192000"/>
              <a:gd name="connsiteY3" fmla="*/ 750237 h 2075000"/>
              <a:gd name="connsiteX4" fmla="*/ 12192000 w 12192000"/>
              <a:gd name="connsiteY4" fmla="*/ 1726055 h 2075000"/>
              <a:gd name="connsiteX5" fmla="*/ 12113803 w 12192000"/>
              <a:gd name="connsiteY5" fmla="*/ 1734338 h 2075000"/>
              <a:gd name="connsiteX6" fmla="*/ 6753597 w 12192000"/>
              <a:gd name="connsiteY6" fmla="*/ 2057895 h 2075000"/>
              <a:gd name="connsiteX7" fmla="*/ 400746 w 12192000"/>
              <a:gd name="connsiteY7" fmla="*/ 1886552 h 2075000"/>
              <a:gd name="connsiteX8" fmla="*/ 0 w 12192000"/>
              <a:gd name="connsiteY8" fmla="*/ 1849576 h 2075000"/>
              <a:gd name="connsiteX9" fmla="*/ 0 w 12192000"/>
              <a:gd name="connsiteY9" fmla="*/ 750237 h 2075000"/>
              <a:gd name="connsiteX10" fmla="*/ 0 w 12192000"/>
              <a:gd name="connsiteY10" fmla="*/ 558112 h 207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2075000">
                <a:moveTo>
                  <a:pt x="0" y="0"/>
                </a:moveTo>
                <a:lnTo>
                  <a:pt x="12192000" y="0"/>
                </a:lnTo>
                <a:lnTo>
                  <a:pt x="12192000" y="558112"/>
                </a:lnTo>
                <a:lnTo>
                  <a:pt x="12192000" y="750237"/>
                </a:lnTo>
                <a:lnTo>
                  <a:pt x="12192000" y="1726055"/>
                </a:lnTo>
                <a:lnTo>
                  <a:pt x="12113803" y="1734338"/>
                </a:lnTo>
                <a:cubicBezTo>
                  <a:pt x="10139508" y="1932287"/>
                  <a:pt x="8237152" y="2025290"/>
                  <a:pt x="6753597" y="2057895"/>
                </a:cubicBezTo>
                <a:cubicBezTo>
                  <a:pt x="4940362" y="2097744"/>
                  <a:pt x="2657278" y="2078414"/>
                  <a:pt x="400746" y="1886552"/>
                </a:cubicBezTo>
                <a:lnTo>
                  <a:pt x="0" y="1849576"/>
                </a:lnTo>
                <a:lnTo>
                  <a:pt x="0" y="750237"/>
                </a:lnTo>
                <a:lnTo>
                  <a:pt x="0" y="558112"/>
                </a:lnTo>
                <a:close/>
              </a:path>
            </a:pathLst>
          </a:custGeom>
          <a:solidFill>
            <a:schemeClr val="tx1"/>
          </a:solidFill>
          <a:ln w="444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D79A3C-0CA7-6441-9489-6A11B6C0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20" y="762608"/>
            <a:ext cx="10481519" cy="1003932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solidFill>
                  <a:schemeClr val="accent1"/>
                </a:solidFill>
              </a:rPr>
              <a:t>Time Series Classification &amp; Prediction Deep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C93F83-EB0B-0B46-BDBC-4D91ACBDE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635976"/>
            <a:ext cx="8227269" cy="3542776"/>
          </a:xfrm>
        </p:spPr>
        <p:txBody>
          <a:bodyPr>
            <a:normAutofit/>
          </a:bodyPr>
          <a:lstStyle/>
          <a:p>
            <a:r>
              <a:rPr lang="en-US" sz="1600" dirty="0"/>
              <a:t>Definition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344999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205</Words>
  <Application>Microsoft Office PowerPoint</Application>
  <PresentationFormat>Widescreen</PresentationFormat>
  <Paragraphs>29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Calibri Light</vt:lpstr>
      <vt:lpstr>Rockwell</vt:lpstr>
      <vt:lpstr>Wingdings</vt:lpstr>
      <vt:lpstr>Atlas</vt:lpstr>
      <vt:lpstr>Machine Learning Project</vt:lpstr>
      <vt:lpstr>Multi-Class Classification</vt:lpstr>
      <vt:lpstr>Multi-Class Classification</vt:lpstr>
      <vt:lpstr>Missing Value Estimation</vt:lpstr>
      <vt:lpstr>Multi-label Classification:</vt:lpstr>
      <vt:lpstr>Time Series Classification &amp; Prediction Deep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Project</dc:title>
  <dc:creator>Bryan Nonni</dc:creator>
  <cp:lastModifiedBy>Frankie Sanchez</cp:lastModifiedBy>
  <cp:revision>9</cp:revision>
  <dcterms:created xsi:type="dcterms:W3CDTF">2019-12-03T07:07:19Z</dcterms:created>
  <dcterms:modified xsi:type="dcterms:W3CDTF">2019-12-03T18:25:31Z</dcterms:modified>
</cp:coreProperties>
</file>